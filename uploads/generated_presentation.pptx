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presentationml.presentation.main+xml"/>
  <Override PartName="/ppt/slideMasters/slideMaster1.xml" ContentType="application/vnd.openxmlformats-presentationml.slideMaster+xml"/>
  <Override PartName="/ppt/slideLayouts/slideLayout1.xml" ContentType="application/vnd.openxmlformats-presentationml.slideLayout+xml"/>
  <Override PartName="/ppt/slides/slide1.xml" ContentType="application/vnd.openxmlformats-presentationml.slide+xml"/>
  <Override PartName="/ppt/slides/slide2.xml" ContentType="application/vnd.openxmlformats-presentationml.slide+xml"/>
  <Override PartName="/ppt/slides/slide3.xml" ContentType="application/vnd.openxmlformats-presentationml.slide+xml"/>
  <Override PartName="/ppt/slides/slide4.xml" ContentType="application/vnd.openxmlformats-presentationml.slide+xml"/>
  <Override PartName="/ppt/theme/theme1.xml" ContentType="application/vnd.openxmlformats-officedocument.theme+xml"/>
  <Override PartName="/ppt/presProps.xml" ContentType="application/vnd.openxmlformats-presentationml.presProps+xml"/>
  <Override PartName="/ppt/viewProps.xml" ContentType="application/vnd.openxmlformats-presentationml.viewProps+xml"/>
  <Override PartName="/ppt/tableStyles.xml" ContentType="application/vnd.openxmlformats-presentationml.tableStyl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9144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name="Medium Style 2 - Accent 1">
    <a:wholeTbl>
      <a:fill>
        <a:solidFill>
          <a:schemeClr val="accent1">
            <a:lumMod val="40000"/>
            <a:lumOff val="60000"/>
          </a:schemeClr>
        </a:solidFill>
      </a:fill>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8"/>
    <p:restoredTop sz="9463"/>
  </p:normalViewPr>
  <p:slideViewPr>
    <p:cSldViewPr>
      <p:cViewPr var="normalView">
        <p:scale>
          <a:sx n="100" d="100"/>
          <a:sy n="100" d="100"/>
        </p:scale>
        <p:origin x="0" y="0"/>
      </p:cViewPr>
    </p:cSldViewPr>
    <p:guideLst/>
  </p:slideViewPr>
  <p:notesTextViewPr>
    <p:cViewPr var="notesView">
      <p:scale>
        <a:sx n="100" d="100"/>
        <a:sy n="100" d="100"/>
      </p:scale>
      <p:origin x="0" y="0"/>
    </p:cViewPr>
  </p:notesTextViewPr>
  <p:gridSpacing cx="76200" cy="76200"/>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theme" Target="theme/theme1.xml"/>
    <Relationship Id="rId7" Type="http://schemas.openxmlformats.org/officeDocument/2006/relationships/presProps" Target="presProps.xml"/>
    <Relationship Id="rId8" Type="http://schemas.openxmlformats.org/officeDocument/2006/relationships/viewProps" Target="viewProps.xml"/>
    <Relationship Id="rId9" Type="http://schemas.openxmlformats.org/officeDocument/2006/relationships/tableStyles" Target="tableStyles.xml"/>
</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p:txBody>
          <a:bodyPr/>
          <a:lstStyle/>
          <a:p>
            <a:r>
              <a:rPr lang="en-US"/>
              <a:t>Title</a:t>
            </a:r>
          </a:p>
        </p:txBody>
      </p:sp>
    </p:spTree>
  </p:cSld>
</p:sldLayout>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p:txBody>
          <a:bodyPr/>
          <a:lstStyle/>
          <a:p>
            <a:r>
              <a:rPr lang="en-US"/>
              <a:t>Title</a:t>
            </a:r>
          </a:p>
        </p:txBody>
      </p:sp>
    </p:spTree>
  </p:cSld>
  <p:clrMap bg1="lt1" tx1="dk1" bg2="lt2" tx2="dk2" accent1="accent1" accent2="accent2" accent3="accent3" accent4="accent4" accent5="accent5" accent6="accent6" hlink="hlink" folHlink="folHlink"/>
</p:sldMaster>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0000" y="1745625"/>
            <a:ext cx="6858000" cy="1143000"/>
          </a:xfrm>
        </p:spPr>
        <p:txBody>
          <a:bodyPr/>
          <a:lstStyle/>
          <a:p>
            <a:r>
              <a:rPr lang="en-US" sz="4400" b="1"/>
              <a:t>Q4 2024 Performance Review</a:t>
            </a:r>
          </a:p>
        </p:txBody>
      </p:sp>
      <p:sp>
        <p:nvSpPr>
          <p:cNvPr id="3" name="Subtitle 2"/>
          <p:cNvSpPr>
            <a:spLocks noGrp="1"/>
          </p:cNvSpPr>
          <p:nvPr>
            <p:ph type="body"/>
          </p:nvPr>
        </p:nvSpPr>
        <p:spPr>
          <a:xfrm>
            <a:off x="2880000" y="3200400"/>
            <a:ext cx="6858000" cy="1397000"/>
          </a:xfrm>
        </p:spPr>
        <p:txBody>
          <a:bodyPr/>
          <a:lstStyle/>
          <a:p>
            <a:r>
              <a:rPr lang="en-US" sz="2800"/>
              <a:t>Status Report prepared by: Sarah Johnson</a:t>
            </a:r>
          </a:p>
          <a:p>
            <a:r>
              <a:rPr lang="en-US" sz="2800"/>
              <a:t>10/17/2025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0000" y="1745625"/>
            <a:ext cx="6858000" cy="1143000"/>
          </a:xfrm>
        </p:spPr>
        <p:txBody>
          <a:bodyPr/>
          <a:lstStyle/>
          <a:p>
            <a:r>
              <a:rPr lang="en-US" sz="4400" b="1"/>
              <a:t>Overview</a:t>
            </a:r>
          </a:p>
        </p:txBody>
      </p:sp>
      <p:sp>
        <p:nvSpPr>
          <p:cNvPr id="3" name="Content Placeholder 2"/>
          <p:cNvSpPr>
            <a:spLocks noGrp="1"/>
          </p:cNvSpPr>
          <p:nvPr>
            <p:ph type="body"/>
          </p:nvPr>
        </p:nvSpPr>
        <p:spPr>
          <a:xfrm>
            <a:off x="2880000" y="3200400"/>
            <a:ext cx="6858000" cy="3429000"/>
          </a:xfrm>
        </p:spPr>
        <p:txBody>
          <a:bodyPr/>
          <a:lstStyle/>
          <a:p>
            <a:r>
              <a:rPr lang="en-US" sz="2800"/>
              <a:t>All financial models have been updated, and the initial report draft is complete. We are on schedule for the board meeting next week. Key metrics show positive growth across all departments.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0000" y="1745625"/>
            <a:ext cx="6858000" cy="1143000"/>
          </a:xfrm>
        </p:spPr>
        <p:txBody>
          <a:bodyPr/>
          <a:lstStyle/>
          <a:p>
            <a:r>
              <a:rPr lang="en-US" sz="4400" b="1"/>
              <a:t>Agenda</a:t>
            </a:r>
          </a:p>
        </p:txBody>
      </p:sp>
      <p:sp>
        <p:nvSpPr>
          <p:cNvPr id="3" name="Content Placeholder 2"/>
          <p:cNvSpPr>
            <a:spLocks noGrp="1"/>
          </p:cNvSpPr>
          <p:nvPr>
            <p:ph type="body"/>
          </p:nvPr>
        </p:nvSpPr>
        <p:spPr>
          <a:xfrm>
            <a:off x="2880000" y="3200400"/>
            <a:ext cx="6858000" cy="3429000"/>
          </a:xfrm>
        </p:spPr>
        <p:txBody>
          <a:bodyPr/>
          <a:lstStyle/>
          <a:p>
            <a:r>
              <a:rPr lang="en-US" sz="2800"/>
              <a:t>Technology Stack System Context Design Decisions Mobile Application Features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0000" y="1745625"/>
            <a:ext cx="6858000" cy="1143000"/>
          </a:xfrm>
        </p:spPr>
        <p:txBody>
          <a:bodyPr/>
          <a:lstStyle/>
          <a:p>
            <a:r>
              <a:rPr lang="en-US" sz="4400" b="1"/>
              <a:t>Analysis of Key Metrics</a:t>
            </a:r>
          </a:p>
        </p:txBody>
      </p:sp>
      <p:sp>
        <p:nvSpPr>
          <p:cNvPr id="3" name="Content Placeholder 2"/>
          <p:cNvSpPr>
            <a:spLocks noGrp="1"/>
          </p:cNvSpPr>
          <p:nvPr>
            <p:ph type="body"/>
          </p:nvPr>
        </p:nvSpPr>
        <p:spPr>
          <a:xfrm>
            <a:off x="2880000" y="3200400"/>
            <a:ext cx="6858000" cy="3429000"/>
          </a:xfrm>
        </p:spPr>
        <p:txBody>
          <a:bodyPr/>
          <a:lstStyle/>
          <a:p>
            <a:r>
              <a:rPr lang="en-US" sz="2800"/>
              <a:t>This is a placeholder slide. Charts will be generated based on your Excel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Mincho"/>
        <a:font script="Hang" typeface="Malgun Gothic"/>
        <a:font script="Hans" typeface="DengXian"/>
        <a:font script="Hant" typeface="Microsoft JhengHei"/>
        <a:font script="Arab" typeface="Arial"/>
        <a:font script="Hebr" typeface="Arial"/>
        <a:font script="Thai" typeface="Tahoma"/>
        <a:font script="Ethi" typeface="Nyala"/>
        <a:font script="Beng" typeface="Vrinda"/>
        <a:font script="Gujr" typeface="Shruti"/>
        <a:font script="Guru" typeface="Raavi"/>
        <a:font script="Knda" typeface="Tunga"/>
        <a:font script="Mlym" typeface="Kartika"/>
        <a:font script="Orya" typeface="Kalinga"/>
        <a:font script="Taml" typeface="Latha"/>
        <a:font script="Telu" typeface="Gautami"/>
        <a:font script="Armn" typeface="Arial"/>
        <a:font script="Bugi" typeface="Leelawadee UI"/>
        <a:font script="Bopo" typeface="Microsoft JhengHei"/>
        <a:font script="CJK" typeface="Microsoft YaHei"/>
        <a:font script="Geor" typeface="Sylfaen"/>
        <a:font script="Khmr" typeface="Leelawadee UI"/>
        <a:font script="Laoo" typeface="Leelawadee UI"/>
        <a:font script="Sinh" typeface="Iskoola Pota"/>
        <a:font script="Syrc" typeface="Estrangelo Edessa"/>
        <a:font script="Thaa" typeface="Leelawadee UI"/>
        <a:font script="Tibt" typeface="Microsoft Himalaya"/>
        <a:font script="Tale" typeface="Leelawadee UI"/>
        <a:font script="Tfng" typeface="Leelawadee UI"/>
      </a:majorFont>
      <a:minorFont>
        <a:latin typeface="Calibri" panose="020F0502020204030204"/>
        <a:ea typeface=""/>
        <a:cs typeface=""/>
        <a:font script="Jpan" typeface="Yu Mincho"/>
        <a:font script="Hang" typeface="Malgun Gothic"/>
        <a:font script="Hans" typeface="DengXian"/>
        <a:font script="Hant" typeface="Microsoft JhengHei"/>
        <a:font script="Arab" typeface="Arial"/>
        <a:font script="Hebr" typeface="Arial"/>
        <a:font script="Thai" typeface="Tahoma"/>
        <a:font script="Ethi" typeface="Nyala"/>
        <a:font script="Beng" typeface="Vrinda"/>
        <a:font script="Gujr" typeface="Shruti"/>
        <a:font script="Guru" typeface="Raavi"/>
        <a:font script="Knda" typeface="Tunga"/>
        <a:font script="Mlym" typeface="Kartika"/>
        <a:font script="Orya" typeface="Kalinga"/>
        <a:font script="Taml" typeface="Latha"/>
        <a:font script="Telu" typeface="Gautami"/>
        <a:font script="Armn" typeface="Arial"/>
        <a:font script="Bugi" typeface="Leelawadee UI"/>
        <a:font script="Bopo" typeface="Microsoft JhengHei"/>
        <a:font script="CJK" typeface="Microsoft YaHei"/>
        <a:font script="Geor" typeface="Sylfaen"/>
        <a:font script="Khmr" typeface="Leelawadee UI"/>
        <a:font script="Laoo" typeface="Leelawadee UI"/>
        <a:font script="Sinh" typeface="Iskoola Pota"/>
        <a:font script="Syrc" typeface="Estrangelo Edessa"/>
        <a:font script="Thaa" typeface="Leelawadee UI"/>
        <a:font script="Tibt" typeface="Microsoft Himalaya"/>
        <a:font script="Tale" typeface="Leelawadee UI"/>
        <a:font script="Tfng" typeface="Leelawadee U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94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