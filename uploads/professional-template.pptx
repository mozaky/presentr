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4" r:id="rId2"/>
    <p:sldId id="306" r:id="rId3"/>
    <p:sldId id="308" r:id="rId4"/>
    <p:sldId id="259" r:id="rId5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90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663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AB222-5D08-C4D5-F01D-ED30AC567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D3C18-1F21-5F85-94D4-402C7C8F4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8E2D2-22F7-BFF5-AA99-FB1D266B0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17AB-ABE2-3948-9FD9-67870BFF8AFB}" type="datetimeFigureOut">
              <a:rPr lang="en-AE" smtClean="0"/>
              <a:t>21/10/2025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CC859-9866-6D08-206E-CDB58769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C6FBC-A35A-9AD1-6B06-35ED9277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CBD1-0EB7-1341-94FE-6586F7ECE41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38999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FEAA-65E5-6A64-A145-44FEB52AC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09CFB-7C71-1849-FAF2-84F609D39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32E13-8510-1AC9-C114-A954DEF6A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304BD-6B56-4982-9F77-FA3098EDDE9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B2E20-ED59-467C-B4DE-15DE58A1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B676F-807F-DEB5-394C-AE2742944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A67BD-8687-4D75-ADAB-C5F682A10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2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A36B55-7DDD-7D58-F516-520ABA70651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354201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71BD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|   خصوصيّ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3B9FE-62ED-B42A-D439-E5346D655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light in a tunnel&#10;&#10;AI-generated content may be incorrect.">
            <a:extLst>
              <a:ext uri="{FF2B5EF4-FFF2-40B4-BE49-F238E27FC236}">
                <a16:creationId xmlns:a16="http://schemas.microsoft.com/office/drawing/2014/main" id="{C6111008-8F65-3ECA-4479-81F6B436A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" y="858212"/>
            <a:ext cx="9143985" cy="30922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4F68D9-C788-89D8-96A5-3EB6B78FD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" y="5867221"/>
            <a:ext cx="9141705" cy="1335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59F2A9-DC7D-6A4B-7B2B-2F2AF03488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53900" y="5143501"/>
            <a:ext cx="2073923" cy="48529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D90C80A-2B95-CCF4-889F-ECA0AA18BFD5}"/>
              </a:ext>
            </a:extLst>
          </p:cNvPr>
          <p:cNvSpPr txBox="1"/>
          <p:nvPr/>
        </p:nvSpPr>
        <p:spPr>
          <a:xfrm>
            <a:off x="311175" y="4142024"/>
            <a:ext cx="1862689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50" b="1" dirty="0"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rPr>
              <a:t>{</a:t>
            </a:r>
            <a:r>
              <a:rPr lang="en-US" sz="2250" b="1" dirty="0" err="1"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rPr>
              <a:t>project_title</a:t>
            </a:r>
            <a:r>
              <a:rPr lang="en-US" sz="2250" b="1" dirty="0"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A74E22-57FB-3164-09AD-DA72C6DC3331}"/>
              </a:ext>
            </a:extLst>
          </p:cNvPr>
          <p:cNvSpPr txBox="1"/>
          <p:nvPr/>
        </p:nvSpPr>
        <p:spPr>
          <a:xfrm>
            <a:off x="311175" y="5557763"/>
            <a:ext cx="806631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75" dirty="0"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rPr>
              <a:t>Presenter - {date}</a:t>
            </a:r>
            <a:endParaRPr lang="en-AE" sz="675" dirty="0">
              <a:latin typeface="Noto Sans Light" panose="020B0502040504020204" pitchFamily="34" charset="0"/>
              <a:ea typeface="Noto Sans Light" panose="020B0502040504020204" pitchFamily="34" charset="0"/>
              <a:cs typeface="Noto Sans Light" panose="020B0502040504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F2F73A-DF17-04D7-E6CB-DAB00E9431A7}"/>
              </a:ext>
            </a:extLst>
          </p:cNvPr>
          <p:cNvSpPr txBox="1"/>
          <p:nvPr/>
        </p:nvSpPr>
        <p:spPr>
          <a:xfrm>
            <a:off x="311174" y="4693856"/>
            <a:ext cx="326467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rPr>
              <a:t>Status Report prepared by: {name} \ </a:t>
            </a:r>
            <a:r>
              <a:rPr lang="en-US" sz="1350">
                <a:solidFill>
                  <a:schemeClr val="tx1">
                    <a:lumMod val="50000"/>
                    <a:lumOff val="50000"/>
                  </a:schemeClr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rPr>
              <a:t>{email}</a:t>
            </a:r>
            <a:endParaRPr lang="en-US" sz="1350" dirty="0">
              <a:solidFill>
                <a:schemeClr val="tx1">
                  <a:lumMod val="50000"/>
                  <a:lumOff val="50000"/>
                </a:schemeClr>
              </a:solidFill>
              <a:latin typeface="Noto Sans Light" panose="020B0502040504020204" pitchFamily="34" charset="0"/>
              <a:ea typeface="Noto Sans Light" panose="020B0502040504020204" pitchFamily="34" charset="0"/>
              <a:cs typeface="Noto Sans Light" panose="020B050204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4F4BE6-4383-CDA6-A156-1828B16904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35472"/>
            <a:ext cx="9141704" cy="31150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8E76F6-1B32-0AD1-1682-C443AB2CED13}"/>
              </a:ext>
            </a:extLst>
          </p:cNvPr>
          <p:cNvSpPr txBox="1"/>
          <p:nvPr/>
        </p:nvSpPr>
        <p:spPr>
          <a:xfrm>
            <a:off x="1330771" y="5557763"/>
            <a:ext cx="1152880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75" dirty="0"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rPr>
              <a:t>Department - {department}</a:t>
            </a:r>
            <a:endParaRPr lang="en-AE" sz="675" dirty="0">
              <a:latin typeface="Noto Sans Light" panose="020B0502040504020204" pitchFamily="34" charset="0"/>
              <a:ea typeface="Noto Sans Light" panose="020B0502040504020204" pitchFamily="34" charset="0"/>
              <a:cs typeface="Noto Sans Light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941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>
            <a:extLst>
              <a:ext uri="{FF2B5EF4-FFF2-40B4-BE49-F238E27FC236}">
                <a16:creationId xmlns:a16="http://schemas.microsoft.com/office/drawing/2014/main" id="{8B34E2BF-F884-F026-9FCD-B40AE2915777}"/>
              </a:ext>
            </a:extLst>
          </p:cNvPr>
          <p:cNvSpPr txBox="1">
            <a:spLocks/>
          </p:cNvSpPr>
          <p:nvPr/>
        </p:nvSpPr>
        <p:spPr>
          <a:xfrm>
            <a:off x="535680" y="2229921"/>
            <a:ext cx="4826895" cy="1135620"/>
          </a:xfrm>
          <a:prstGeom prst="rect">
            <a:avLst/>
          </a:prstGeom>
          <a:noFill/>
          <a:ln w="0">
            <a:noFill/>
          </a:ln>
        </p:spPr>
        <p:txBody>
          <a:bodyPr vert="horz" lIns="68580" tIns="68580" rIns="68580" bIns="6858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363636"/>
                </a:solidFill>
              </a:rPr>
              <a:t>Overview</a:t>
            </a:r>
            <a:endParaRPr lang="en-US" sz="3200" dirty="0"/>
          </a:p>
        </p:txBody>
      </p:sp>
      <p:cxnSp>
        <p:nvCxnSpPr>
          <p:cNvPr id="8" name="Google Shape;169;p31">
            <a:extLst>
              <a:ext uri="{FF2B5EF4-FFF2-40B4-BE49-F238E27FC236}">
                <a16:creationId xmlns:a16="http://schemas.microsoft.com/office/drawing/2014/main" id="{4872CAEB-AF34-807C-E0CD-D1F0F1978200}"/>
              </a:ext>
            </a:extLst>
          </p:cNvPr>
          <p:cNvCxnSpPr/>
          <p:nvPr/>
        </p:nvCxnSpPr>
        <p:spPr>
          <a:xfrm>
            <a:off x="534870" y="2915190"/>
            <a:ext cx="855090" cy="27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4A4488A-8FEA-35D1-BD21-DF6CA66A9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210" y="1149403"/>
            <a:ext cx="1565616" cy="3645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F2E75C-B1FF-5769-AF49-FD8A085B5A52}"/>
              </a:ext>
            </a:extLst>
          </p:cNvPr>
          <p:cNvSpPr/>
          <p:nvPr/>
        </p:nvSpPr>
        <p:spPr>
          <a:xfrm>
            <a:off x="6534150" y="4962525"/>
            <a:ext cx="2609850" cy="1895475"/>
          </a:xfrm>
          <a:prstGeom prst="rect">
            <a:avLst/>
          </a:prstGeom>
          <a:gradFill>
            <a:gsLst>
              <a:gs pos="0">
                <a:schemeClr val="tx2">
                  <a:alpha val="56014"/>
                  <a:lumMod val="65000"/>
                  <a:lumOff val="35000"/>
                </a:schemeClr>
              </a:gs>
              <a:gs pos="73000">
                <a:schemeClr val="bg1"/>
              </a:gs>
              <a:gs pos="100000">
                <a:schemeClr val="bg1"/>
              </a:gs>
              <a:gs pos="31000">
                <a:schemeClr val="tx2">
                  <a:lumMod val="25000"/>
                  <a:lumOff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3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A030B0-37EF-C4C6-8DD1-E805C90DE3DE}"/>
              </a:ext>
            </a:extLst>
          </p:cNvPr>
          <p:cNvSpPr/>
          <p:nvPr/>
        </p:nvSpPr>
        <p:spPr>
          <a:xfrm>
            <a:off x="0" y="5719936"/>
            <a:ext cx="604433" cy="2808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350"/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id="{9925AD9D-55B6-B23A-290D-580717577F24}"/>
              </a:ext>
            </a:extLst>
          </p:cNvPr>
          <p:cNvSpPr/>
          <p:nvPr/>
        </p:nvSpPr>
        <p:spPr>
          <a:xfrm>
            <a:off x="374714" y="5396512"/>
            <a:ext cx="459437" cy="463832"/>
          </a:xfrm>
          <a:prstGeom prst="corner">
            <a:avLst>
              <a:gd name="adj1" fmla="val 30528"/>
              <a:gd name="adj2" fmla="val 30724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350"/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D5DA64BA-EB95-6559-4AC1-B7AE2B453131}"/>
              </a:ext>
            </a:extLst>
          </p:cNvPr>
          <p:cNvSpPr txBox="1">
            <a:spLocks/>
          </p:cNvSpPr>
          <p:nvPr/>
        </p:nvSpPr>
        <p:spPr>
          <a:xfrm>
            <a:off x="535680" y="3277840"/>
            <a:ext cx="4826895" cy="1135620"/>
          </a:xfrm>
          <a:prstGeom prst="rect">
            <a:avLst/>
          </a:prstGeom>
          <a:noFill/>
          <a:ln w="0">
            <a:noFill/>
          </a:ln>
        </p:spPr>
        <p:txBody>
          <a:bodyPr vert="horz" lIns="68580" tIns="68580" rIns="68580" bIns="6858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 dirty="0">
                <a:solidFill>
                  <a:schemeClr val="dk1"/>
                </a:solidFill>
                <a:latin typeface="Outfit"/>
                <a:ea typeface="Outfit"/>
              </a:rPr>
              <a:t>{</a:t>
            </a:r>
            <a:r>
              <a:rPr lang="en-US" sz="3000" b="1" dirty="0" err="1">
                <a:solidFill>
                  <a:schemeClr val="dk1"/>
                </a:solidFill>
                <a:latin typeface="Outfit"/>
                <a:ea typeface="Outfit"/>
              </a:rPr>
              <a:t>status_update</a:t>
            </a:r>
            <a:r>
              <a:rPr lang="en-US" sz="3000" b="1" dirty="0">
                <a:solidFill>
                  <a:schemeClr val="dk1"/>
                </a:solidFill>
                <a:latin typeface="Outfit"/>
                <a:ea typeface="Outfi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2505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70589-1BA1-7B8D-8DC9-7AF39D33E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DF0FA7-D19A-32BB-0AEA-885305A08C96}"/>
              </a:ext>
            </a:extLst>
          </p:cNvPr>
          <p:cNvSpPr txBox="1"/>
          <p:nvPr/>
        </p:nvSpPr>
        <p:spPr>
          <a:xfrm>
            <a:off x="311174" y="1147515"/>
            <a:ext cx="1145506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50" b="1" dirty="0">
                <a:latin typeface="Aptos SemiBold" panose="020B0004020202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rPr>
              <a:t>Agenda</a:t>
            </a:r>
            <a:endParaRPr lang="en-AE" sz="2250" b="1" dirty="0">
              <a:latin typeface="Aptos SemiBold" panose="020B0004020202020204" pitchFamily="34" charset="0"/>
              <a:ea typeface="Noto Sans SemiBold" panose="020B0502040504020204" pitchFamily="34" charset="0"/>
              <a:cs typeface="Noto Sans SemiBold" panose="020B050204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039FB2-561C-499D-08E6-082238DC6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210" y="1149403"/>
            <a:ext cx="1565616" cy="36459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2B506B0-72B8-E017-EACF-BFFDA72FA7C2}"/>
              </a:ext>
            </a:extLst>
          </p:cNvPr>
          <p:cNvSpPr/>
          <p:nvPr/>
        </p:nvSpPr>
        <p:spPr>
          <a:xfrm>
            <a:off x="0" y="5657850"/>
            <a:ext cx="677008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00446B-CD86-7361-AD9B-7A9F7ACB7E54}"/>
              </a:ext>
            </a:extLst>
          </p:cNvPr>
          <p:cNvSpPr/>
          <p:nvPr/>
        </p:nvSpPr>
        <p:spPr>
          <a:xfrm flipH="1">
            <a:off x="-8549" y="4826977"/>
            <a:ext cx="2866026" cy="2031023"/>
          </a:xfrm>
          <a:prstGeom prst="rect">
            <a:avLst/>
          </a:prstGeom>
          <a:gradFill>
            <a:gsLst>
              <a:gs pos="0">
                <a:schemeClr val="tx2">
                  <a:alpha val="56014"/>
                  <a:lumMod val="65000"/>
                  <a:lumOff val="35000"/>
                </a:schemeClr>
              </a:gs>
              <a:gs pos="73000">
                <a:schemeClr val="bg1"/>
              </a:gs>
              <a:gs pos="100000">
                <a:schemeClr val="bg1"/>
              </a:gs>
              <a:gs pos="29000">
                <a:schemeClr val="tx2">
                  <a:lumMod val="25000"/>
                  <a:lumOff val="75000"/>
                  <a:alpha val="60866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sz="1350" dirty="0"/>
              <a:t> 	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AD1DC0-D4F5-4869-F5A1-674D8A190D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941931"/>
              </p:ext>
            </p:extLst>
          </p:nvPr>
        </p:nvGraphicFramePr>
        <p:xfrm>
          <a:off x="677008" y="1714418"/>
          <a:ext cx="6096000" cy="43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991594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30535399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lang="en-US" sz="1400" dirty="0"/>
                        <a:t> </a:t>
                      </a:r>
                      <a:r>
                        <a:rPr lang="en-US" sz="2400" kern="1200" dirty="0">
                          <a:solidFill>
                            <a:srgbClr val="215A9E"/>
                          </a:solidFill>
                          <a:latin typeface="Aptos" panose="020B0004020202020204" pitchFamily="34" charset="0"/>
                        </a:rPr>
                        <a:t>{#agenda}{index}</a:t>
                      </a:r>
                      <a:r>
                        <a:rPr lang="en-US" sz="1400" dirty="0"/>
                        <a:t>	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rgbClr val="215A9E"/>
                          </a:solidFill>
                          <a:latin typeface="Aptos" panose="020B0004020202020204" pitchFamily="34" charset="0"/>
                        </a:rPr>
                        <a:t>{title}{/agenda}</a:t>
                      </a: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221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114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3636"/>
                </a:solidFill>
              </a:rPr>
              <a:t>{ChartTitle}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This is a placeholder slide. The title above will be filled from your Excel data.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Charts defined in the 'ChartData' sheet will be added as new slides following this one.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📊 Chart data will be automatically inserted here based on your Excel file.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PowerPoint AutoFill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103</Words>
  <Application>Microsoft Office PowerPoint</Application>
  <PresentationFormat>On-screen Show (4:3)</PresentationFormat>
  <Paragraphs>18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Aptos SemiBold</vt:lpstr>
      <vt:lpstr>Arial</vt:lpstr>
      <vt:lpstr>Calibri</vt:lpstr>
      <vt:lpstr>Noto Sans Light</vt:lpstr>
      <vt:lpstr>Noto Sans SemiBold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AutoFill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Template</dc:title>
  <dc:subject>Template for AutoFill Demo</dc:subject>
  <dc:creator>PowerPoint AutoFill</dc:creator>
  <cp:lastModifiedBy>Mohamed Zaky Elkassed</cp:lastModifiedBy>
  <cp:revision>11</cp:revision>
  <dcterms:created xsi:type="dcterms:W3CDTF">2025-10-16T10:51:56Z</dcterms:created>
  <dcterms:modified xsi:type="dcterms:W3CDTF">2025-10-21T07:03:20Z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b50724-87c1-4b02-94c8-e7d88c4f4b62_Enabled">
    <vt:lpwstr>true</vt:lpwstr>
  </property>
  <property fmtid="{D5CDD505-2E9C-101B-9397-08002B2CF9AE}" pid="3" name="MSIP_Label_44b50724-87c1-4b02-94c8-e7d88c4f4b62_SetDate">
    <vt:lpwstr>2025-10-20T12:02:20Z</vt:lpwstr>
  </property>
  <property fmtid="{D5CDD505-2E9C-101B-9397-08002B2CF9AE}" pid="4" name="MSIP_Label_44b50724-87c1-4b02-94c8-e7d88c4f4b62_Method">
    <vt:lpwstr>Standard</vt:lpwstr>
  </property>
  <property fmtid="{D5CDD505-2E9C-101B-9397-08002B2CF9AE}" pid="5" name="MSIP_Label_44b50724-87c1-4b02-94c8-e7d88c4f4b62_Name">
    <vt:lpwstr>Confidential</vt:lpwstr>
  </property>
  <property fmtid="{D5CDD505-2E9C-101B-9397-08002B2CF9AE}" pid="6" name="MSIP_Label_44b50724-87c1-4b02-94c8-e7d88c4f4b62_SiteId">
    <vt:lpwstr>0cefd05a-5b38-4ce7-96bb-c31e6e251d18</vt:lpwstr>
  </property>
  <property fmtid="{D5CDD505-2E9C-101B-9397-08002B2CF9AE}" pid="7" name="MSIP_Label_44b50724-87c1-4b02-94c8-e7d88c4f4b62_ActionId">
    <vt:lpwstr>b6e2296c-7525-4cd6-bbd4-5f7f5400fc85</vt:lpwstr>
  </property>
  <property fmtid="{D5CDD505-2E9C-101B-9397-08002B2CF9AE}" pid="8" name="MSIP_Label_44b50724-87c1-4b02-94c8-e7d88c4f4b62_ContentBits">
    <vt:lpwstr>2</vt:lpwstr>
  </property>
  <property fmtid="{D5CDD505-2E9C-101B-9397-08002B2CF9AE}" pid="9" name="MSIP_Label_44b50724-87c1-4b02-94c8-e7d88c4f4b62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CONFIDENTIAL |   خصوصيّ</vt:lpwstr>
  </property>
</Properties>
</file>